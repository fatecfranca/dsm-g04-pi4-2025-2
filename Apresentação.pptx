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ublic Sans Bold Italics" charset="1" panose="00000000000000000000"/>
      <p:regular r:id="rId19"/>
    </p:embeddedFont>
    <p:embeddedFont>
      <p:font typeface="Public Sans Thin" charset="1" panose="00000000000000000000"/>
      <p:regular r:id="rId20"/>
    </p:embeddedFont>
    <p:embeddedFont>
      <p:font typeface="Public Sans" charset="1" panose="00000000000000000000"/>
      <p:regular r:id="rId21"/>
    </p:embeddedFont>
    <p:embeddedFont>
      <p:font typeface="Public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42210">
            <a:off x="13955596" y="-2306868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9" y="0"/>
                </a:lnTo>
                <a:lnTo>
                  <a:pt x="8028719" y="6671136"/>
                </a:lnTo>
                <a:lnTo>
                  <a:pt x="0" y="667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1522" y="3027652"/>
            <a:ext cx="16373092" cy="235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3"/>
              </a:lnSpc>
            </a:pPr>
            <a:r>
              <a:rPr lang="en-US" sz="7156" i="true" b="true">
                <a:solidFill>
                  <a:srgbClr val="FFFFFF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Click Serve</a:t>
            </a:r>
            <a:r>
              <a:rPr lang="en-US" sz="7156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- Sistema de Gestão Inteligente para Restaurantes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588596" y="7449663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8" y="0"/>
                </a:lnTo>
                <a:lnTo>
                  <a:pt x="8028718" y="6671135"/>
                </a:lnTo>
                <a:lnTo>
                  <a:pt x="0" y="667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56148" y="7722870"/>
            <a:ext cx="10903152" cy="153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94"/>
              </a:lnSpc>
            </a:pPr>
            <a:r>
              <a:rPr lang="en-US" sz="29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Paulo Ricardo de Azevedo Alvino</a:t>
            </a:r>
          </a:p>
          <a:p>
            <a:pPr algn="r">
              <a:lnSpc>
                <a:spcPts val="4094"/>
              </a:lnSpc>
            </a:pPr>
            <a:r>
              <a:rPr lang="en-US" sz="29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Thiago Cunha Archete Silva</a:t>
            </a:r>
          </a:p>
          <a:p>
            <a:pPr algn="r">
              <a:lnSpc>
                <a:spcPts val="4094"/>
              </a:lnSpc>
            </a:pPr>
            <a:r>
              <a:rPr lang="en-US" sz="292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Vinícius de Araújo Silva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0460" y="1225199"/>
            <a:ext cx="58125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Introdução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24267" y="-1803368"/>
            <a:ext cx="10527465" cy="8030686"/>
          </a:xfrm>
          <a:custGeom>
            <a:avLst/>
            <a:gdLst/>
            <a:ahLst/>
            <a:cxnLst/>
            <a:rect r="r" b="b" t="t" l="l"/>
            <a:pathLst>
              <a:path h="8030686" w="10527465">
                <a:moveTo>
                  <a:pt x="0" y="0"/>
                </a:moveTo>
                <a:lnTo>
                  <a:pt x="10527466" y="0"/>
                </a:lnTo>
                <a:lnTo>
                  <a:pt x="10527466" y="8030686"/>
                </a:lnTo>
                <a:lnTo>
                  <a:pt x="0" y="803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3783757" y="4431199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9944" y="2789555"/>
            <a:ext cx="6884981" cy="313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ClickS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v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é 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 sist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comp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gestão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res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es, 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W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b,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b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ile, B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ck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IoT.</a:t>
            </a:r>
          </a:p>
          <a:p>
            <a:pPr algn="l" marL="0" indent="0" lvl="1">
              <a:lnSpc>
                <a:spcPts val="3529"/>
              </a:lnSpc>
              <a:spcBef>
                <a:spcPct val="0"/>
              </a:spcBef>
            </a:pP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 pl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taf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rma permite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con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rol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me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s, pe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did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,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pagam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, ch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ados e de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empe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nho,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tempo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re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 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co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ba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se 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statístic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avança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48723" y="5328363"/>
            <a:ext cx="5751090" cy="382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718" indent="-232359" lvl="1">
              <a:lnSpc>
                <a:spcPts val="3013"/>
              </a:lnSpc>
              <a:spcBef>
                <a:spcPct val="0"/>
              </a:spcBef>
              <a:buFont typeface="Arial"/>
              <a:buChar char="•"/>
            </a:pPr>
            <a:r>
              <a:rPr lang="en-US" sz="2152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Ges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ão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ntra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ada 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u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ifica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da</a:t>
            </a:r>
          </a:p>
          <a:p>
            <a:pPr algn="l">
              <a:lnSpc>
                <a:spcPts val="3013"/>
              </a:lnSpc>
              <a:spcBef>
                <a:spcPct val="0"/>
              </a:spcBef>
            </a:pPr>
          </a:p>
          <a:p>
            <a:pPr algn="l" marL="464718" indent="-232359" lvl="1">
              <a:lnSpc>
                <a:spcPts val="3013"/>
              </a:lnSpc>
              <a:spcBef>
                <a:spcPct val="0"/>
              </a:spcBef>
              <a:buFont typeface="Arial"/>
              <a:buChar char="•"/>
            </a:pP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muni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açã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tre g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rçom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cozinha</a:t>
            </a:r>
          </a:p>
          <a:p>
            <a:pPr algn="l">
              <a:lnSpc>
                <a:spcPts val="3013"/>
              </a:lnSpc>
              <a:spcBef>
                <a:spcPct val="0"/>
              </a:spcBef>
            </a:pPr>
          </a:p>
          <a:p>
            <a:pPr algn="l" marL="464718" indent="-232359" lvl="1">
              <a:lnSpc>
                <a:spcPts val="3013"/>
              </a:lnSpc>
              <a:spcBef>
                <a:spcPct val="0"/>
              </a:spcBef>
              <a:buFont typeface="Arial"/>
              <a:buChar char="•"/>
            </a:pP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lató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os 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d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shb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rd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ntel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</a:p>
          <a:p>
            <a:pPr algn="l">
              <a:lnSpc>
                <a:spcPts val="3013"/>
              </a:lnSpc>
              <a:spcBef>
                <a:spcPct val="0"/>
              </a:spcBef>
            </a:pPr>
          </a:p>
          <a:p>
            <a:pPr algn="l" marL="464718" indent="-232359" lvl="1">
              <a:lnSpc>
                <a:spcPts val="3013"/>
              </a:lnSpc>
              <a:spcBef>
                <a:spcPct val="0"/>
              </a:spcBef>
              <a:buFont typeface="Arial"/>
              <a:buChar char="•"/>
            </a:pP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per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ação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ma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is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ápi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da e 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fi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</a:t>
            </a:r>
          </a:p>
          <a:p>
            <a:pPr algn="l">
              <a:lnSpc>
                <a:spcPts val="3013"/>
              </a:lnSpc>
              <a:spcBef>
                <a:spcPct val="0"/>
              </a:spcBef>
            </a:pPr>
          </a:p>
          <a:p>
            <a:pPr algn="l" marL="464718" indent="-232359" lvl="1">
              <a:lnSpc>
                <a:spcPts val="3013"/>
              </a:lnSpc>
              <a:spcBef>
                <a:spcPct val="0"/>
              </a:spcBef>
              <a:buFont typeface="Arial"/>
              <a:buChar char="•"/>
            </a:pP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peri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ên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ci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mode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rna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ra 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re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152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taurante</a:t>
            </a:r>
          </a:p>
          <a:p>
            <a:pPr algn="l" marL="0" indent="0" lvl="1">
              <a:lnSpc>
                <a:spcPts val="30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74784"/>
            <a:ext cx="4971501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4"/>
              </a:lnSpc>
            </a:pPr>
            <a:r>
              <a:rPr lang="en-US" sz="567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Problema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846296" y="3376014"/>
            <a:ext cx="4276599" cy="3817837"/>
          </a:xfrm>
          <a:custGeom>
            <a:avLst/>
            <a:gdLst/>
            <a:ahLst/>
            <a:cxnLst/>
            <a:rect r="r" b="b" t="t" l="l"/>
            <a:pathLst>
              <a:path h="3817837" w="4276599">
                <a:moveTo>
                  <a:pt x="0" y="0"/>
                </a:moveTo>
                <a:lnTo>
                  <a:pt x="4276599" y="0"/>
                </a:lnTo>
                <a:lnTo>
                  <a:pt x="4276599" y="3817837"/>
                </a:lnTo>
                <a:lnTo>
                  <a:pt x="0" y="3817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903" y="2423123"/>
            <a:ext cx="6025843" cy="247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</a:t>
            </a:r>
            <a:r>
              <a:rPr lang="en-US" sz="201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staurantes enfrentam desafios diários: falta de visibilidade sobre vendas, gestão manual propensa a erros, e decisões tomadas sem base em dados concretos. Além disso, processos desorganizados e dificuldade em prever demandas resultam em desperdício e perda de receita.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0750" y="5269020"/>
            <a:ext cx="5121664" cy="204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05" indent="-210352" lvl="1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Falta</a:t>
            </a: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de visibilidade das vendas</a:t>
            </a:r>
          </a:p>
          <a:p>
            <a:pPr algn="l" marL="420705" indent="-210352" lvl="1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Processos manuais e erros operacionais</a:t>
            </a:r>
          </a:p>
          <a:p>
            <a:pPr algn="l" marL="420705" indent="-210352" lvl="1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Dificuldade em prever demanda</a:t>
            </a:r>
          </a:p>
          <a:p>
            <a:pPr algn="l" marL="420705" indent="-210352" lvl="1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Perda de receita e desperdício</a:t>
            </a:r>
          </a:p>
          <a:p>
            <a:pPr algn="l" marL="420705" indent="-210352" lvl="1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Decisões sem suporte de dados</a:t>
            </a:r>
          </a:p>
          <a:p>
            <a:pPr algn="l">
              <a:lnSpc>
                <a:spcPts val="272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507126" y="3550075"/>
            <a:ext cx="5674660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Os </a:t>
            </a:r>
            <a:r>
              <a:rPr lang="en-US" sz="19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restaurantes lidam com operações complexas que dependem de comunicação rápida e organização precisa. Sem ferramentas adequadas, erros se acumulam: pedidos se perdem, o tempo de atendimento aumenta e a equipe se sobrecarrega. A ausência de dados confiáveis impede o gestor de entender o desempenho real do negócio e tomar decisões seguras.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37841">
            <a:off x="-4313241" y="4696091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8"/>
                </a:lnTo>
                <a:lnTo>
                  <a:pt x="0" y="9124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86879">
            <a:off x="14703918" y="-4179444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3026" y="1300839"/>
            <a:ext cx="58125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Solução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52214" y="-1833624"/>
            <a:ext cx="8374142" cy="6388062"/>
          </a:xfrm>
          <a:custGeom>
            <a:avLst/>
            <a:gdLst/>
            <a:ahLst/>
            <a:cxnLst/>
            <a:rect r="r" b="b" t="t" l="l"/>
            <a:pathLst>
              <a:path h="6388062" w="8374142">
                <a:moveTo>
                  <a:pt x="0" y="0"/>
                </a:moveTo>
                <a:lnTo>
                  <a:pt x="8374141" y="0"/>
                </a:lnTo>
                <a:lnTo>
                  <a:pt x="8374141" y="6388062"/>
                </a:lnTo>
                <a:lnTo>
                  <a:pt x="0" y="638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2991075" y="5830177"/>
            <a:ext cx="8039550" cy="6132825"/>
          </a:xfrm>
          <a:custGeom>
            <a:avLst/>
            <a:gdLst/>
            <a:ahLst/>
            <a:cxnLst/>
            <a:rect r="r" b="b" t="t" l="l"/>
            <a:pathLst>
              <a:path h="6132825" w="8039550">
                <a:moveTo>
                  <a:pt x="0" y="0"/>
                </a:moveTo>
                <a:lnTo>
                  <a:pt x="8039550" y="0"/>
                </a:lnTo>
                <a:lnTo>
                  <a:pt x="8039550" y="6132825"/>
                </a:lnTo>
                <a:lnTo>
                  <a:pt x="0" y="6132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673" y="2535895"/>
            <a:ext cx="6884981" cy="447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ClickServe conecta todos os setores do restaurante em uma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única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plataforma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lig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 C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integração entre We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b,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Mobile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T,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sist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 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utom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ati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operações, elimina falhas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hu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manas e fornece métricas em tempo real. A interface simples e o backen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 rob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gar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ntem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eficiência, segurança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mai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or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contr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ole p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ara gestor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fun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onário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s.</a:t>
            </a:r>
          </a:p>
          <a:p>
            <a:pPr algn="l">
              <a:lnSpc>
                <a:spcPts val="352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68455" y="6823297"/>
            <a:ext cx="6107289" cy="243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501" indent="-246751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Plataforma c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entra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lizada e intuitiva</a:t>
            </a:r>
          </a:p>
          <a:p>
            <a:pPr algn="l" marL="493501" indent="-246751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Dashb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ard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em tempo real</a:t>
            </a:r>
          </a:p>
          <a:p>
            <a:pPr algn="l" marL="493501" indent="-246751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Analyti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 p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ditivo</a:t>
            </a:r>
          </a:p>
          <a:p>
            <a:pPr algn="l" marL="493501" indent="-246751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Gestão operacional comple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ta</a:t>
            </a:r>
          </a:p>
          <a:p>
            <a:pPr algn="l" marL="493501" indent="-246751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Segura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ça com au</a:t>
            </a:r>
            <a:r>
              <a:rPr lang="en-US" sz="2285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tenticação JWT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656920"/>
            <a:ext cx="8337280" cy="313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  <a:spcBef>
                <a:spcPct val="0"/>
              </a:spcBef>
            </a:pP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sistema reúne atendi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ento, co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nh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a, pagamentos, relatórios e estatísticas em um só lugar, trazendo agilidade, precisão e visão completa 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negóci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 C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shbo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ards, n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ficações instantâneas e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flux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to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ta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ment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integ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rado, o restaurante ganha 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prod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521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ividade e reduz erros.</a:t>
            </a:r>
          </a:p>
          <a:p>
            <a:pPr algn="l">
              <a:lnSpc>
                <a:spcPts val="35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15288" y="2967692"/>
            <a:ext cx="8584272" cy="44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48" indent="-24827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Gestão completa de usuários e permissões</a:t>
            </a:r>
          </a:p>
          <a:p>
            <a:pPr algn="l">
              <a:lnSpc>
                <a:spcPts val="3219"/>
              </a:lnSpc>
            </a:pPr>
          </a:p>
          <a:p>
            <a:pPr algn="l" marL="496548" indent="-24827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Cadastro e edição de Cardápio</a:t>
            </a:r>
          </a:p>
          <a:p>
            <a:pPr algn="l">
              <a:lnSpc>
                <a:spcPts val="3219"/>
              </a:lnSpc>
            </a:pPr>
          </a:p>
          <a:p>
            <a:pPr algn="l" marL="496548" indent="-24827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Configuração de mesas</a:t>
            </a:r>
          </a:p>
          <a:p>
            <a:pPr algn="l">
              <a:lnSpc>
                <a:spcPts val="3219"/>
              </a:lnSpc>
            </a:pPr>
          </a:p>
          <a:p>
            <a:pPr algn="l" marL="496548" indent="-24827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Relatórios de vendas e desempenho</a:t>
            </a:r>
          </a:p>
          <a:p>
            <a:pPr algn="l">
              <a:lnSpc>
                <a:spcPts val="3219"/>
              </a:lnSpc>
            </a:pPr>
          </a:p>
          <a:p>
            <a:pPr algn="l" marL="496548" indent="-24827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Dashboard administrativo.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20935" y="923925"/>
            <a:ext cx="1171439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Tecnologias Utilizadas - F</a:t>
            </a: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rontend Web</a:t>
            </a:r>
          </a:p>
          <a:p>
            <a:pPr algn="l">
              <a:lnSpc>
                <a:spcPts val="7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77217"/>
            <a:ext cx="6375092" cy="484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React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19.1.1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Biblioteca UI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Vite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Build tool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Tailwind CSS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Framework CSS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React Router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Navegação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Axios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Cliente HTTP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  <a:p>
            <a:pPr algn="l" marL="493149" indent="-246574" lvl="1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Context API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84" strike="noStrike" u="none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- Estado global</a:t>
            </a:r>
          </a:p>
          <a:p>
            <a:pPr algn="l">
              <a:lnSpc>
                <a:spcPts val="31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4971501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4"/>
              </a:lnSpc>
            </a:pPr>
            <a:r>
              <a:rPr lang="en-US" sz="567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Backend: API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4239" y="2168505"/>
            <a:ext cx="7002397" cy="535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API de</a:t>
            </a:r>
            <a:r>
              <a:rPr lang="en-US" sz="25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senvolvida na Arquitetura RESTful:</a:t>
            </a: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  <a:r>
              <a:rPr lang="en-US" sz="23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Backend: Implementado em Node.js com Express.</a:t>
            </a: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  <a:r>
              <a:rPr lang="en-US" sz="23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- Estrutura: API organizada por recurso (Rotas e Controllers) no padrão MVC e REST. Ex: Rotas GET /contas, POST /pedidos.</a:t>
            </a: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  <a:r>
              <a:rPr lang="en-US" sz="23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- Segurança: Autenticação via JWT (Access &amp; Refresh Tokens) garantindo endpoints seguros e helpers para checagem de cargo para garantir acesso restrito para algumas rotas.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174573"/>
            <a:ext cx="6946033" cy="369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Documentação</a:t>
            </a: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da API no Modelo OpenAPI:</a:t>
            </a:r>
          </a:p>
          <a:p>
            <a:pPr algn="l" marL="570562" indent="-285281" lvl="1">
              <a:lnSpc>
                <a:spcPts val="3699"/>
              </a:lnSpc>
              <a:buFont typeface="Arial"/>
              <a:buChar char="•"/>
            </a:pP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 A</a:t>
            </a: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PI possui documentação completa gerada via Swagger (/api-docs).</a:t>
            </a:r>
          </a:p>
          <a:p>
            <a:pPr algn="l">
              <a:lnSpc>
                <a:spcPts val="3699"/>
              </a:lnSpc>
            </a:pPr>
          </a:p>
          <a:p>
            <a:pPr algn="l" marL="570562" indent="-285281" lvl="1">
              <a:lnSpc>
                <a:spcPts val="3699"/>
              </a:lnSpc>
              <a:buFont typeface="Arial"/>
              <a:buChar char="•"/>
            </a:pP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Perm</a:t>
            </a:r>
            <a:r>
              <a:rPr lang="en-US" sz="26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ite que qualquer desenvolvedor consuma e entenda os endpoints de forma rápida e padronizada.</a:t>
            </a:r>
          </a:p>
          <a:p>
            <a:pPr algn="l">
              <a:lnSpc>
                <a:spcPts val="36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137841">
            <a:off x="-2957539" y="5615836"/>
            <a:ext cx="9537421" cy="7275449"/>
          </a:xfrm>
          <a:custGeom>
            <a:avLst/>
            <a:gdLst/>
            <a:ahLst/>
            <a:cxnLst/>
            <a:rect r="r" b="b" t="t" l="l"/>
            <a:pathLst>
              <a:path h="7275449" w="9537421">
                <a:moveTo>
                  <a:pt x="0" y="0"/>
                </a:moveTo>
                <a:lnTo>
                  <a:pt x="9537421" y="0"/>
                </a:lnTo>
                <a:lnTo>
                  <a:pt x="9537421" y="7275449"/>
                </a:lnTo>
                <a:lnTo>
                  <a:pt x="0" y="7275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6879">
            <a:off x="14703918" y="-4179444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370885">
            <a:off x="13055089" y="-703039"/>
            <a:ext cx="6606589" cy="5039716"/>
          </a:xfrm>
          <a:custGeom>
            <a:avLst/>
            <a:gdLst/>
            <a:ahLst/>
            <a:cxnLst/>
            <a:rect r="r" b="b" t="t" l="l"/>
            <a:pathLst>
              <a:path h="5039716" w="6606589">
                <a:moveTo>
                  <a:pt x="0" y="0"/>
                </a:moveTo>
                <a:lnTo>
                  <a:pt x="6606588" y="0"/>
                </a:lnTo>
                <a:lnTo>
                  <a:pt x="6606588" y="5039717"/>
                </a:lnTo>
                <a:lnTo>
                  <a:pt x="0" y="5039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6805"/>
            <a:ext cx="581257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Backend: API</a:t>
            </a:r>
          </a:p>
          <a:p>
            <a:pPr algn="l">
              <a:lnSpc>
                <a:spcPts val="70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24267" y="-1803368"/>
            <a:ext cx="10527465" cy="8030686"/>
          </a:xfrm>
          <a:custGeom>
            <a:avLst/>
            <a:gdLst/>
            <a:ahLst/>
            <a:cxnLst/>
            <a:rect r="r" b="b" t="t" l="l"/>
            <a:pathLst>
              <a:path h="8030686" w="10527465">
                <a:moveTo>
                  <a:pt x="0" y="0"/>
                </a:moveTo>
                <a:lnTo>
                  <a:pt x="10527466" y="0"/>
                </a:lnTo>
                <a:lnTo>
                  <a:pt x="10527466" y="8030686"/>
                </a:lnTo>
                <a:lnTo>
                  <a:pt x="0" y="803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3783757" y="4431199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8154" y="2154825"/>
            <a:ext cx="8581463" cy="470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Int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egração da API com Ba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nc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de Dados:</a:t>
            </a:r>
          </a:p>
          <a:p>
            <a:pPr algn="l">
              <a:lnSpc>
                <a:spcPts val="3088"/>
              </a:lnSpc>
              <a:spcBef>
                <a:spcPct val="0"/>
              </a:spcBef>
            </a:pPr>
          </a:p>
          <a:p>
            <a:pPr algn="l">
              <a:lnSpc>
                <a:spcPts val="3088"/>
              </a:lnSpc>
              <a:spcBef>
                <a:spcPct val="0"/>
              </a:spcBef>
            </a:pP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  Tecnolog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a: Mon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DB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(NoSQL) util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iz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and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ngoose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>
              <a:lnSpc>
                <a:spcPts val="3088"/>
              </a:lnSpc>
              <a:spcBef>
                <a:spcPct val="0"/>
              </a:spcBef>
            </a:pPr>
          </a:p>
          <a:p>
            <a:pPr algn="l">
              <a:lnSpc>
                <a:spcPts val="3088"/>
              </a:lnSpc>
              <a:spcBef>
                <a:spcPct val="0"/>
              </a:spcBef>
            </a:pP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Escolh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a: Op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tamos p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 NoSQL para mai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or fl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exibilida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e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performance na mani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pulação de grande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volumes de d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ados de venda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s.</a:t>
            </a:r>
          </a:p>
          <a:p>
            <a:pPr algn="l">
              <a:lnSpc>
                <a:spcPts val="3088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3088"/>
              </a:lnSpc>
              <a:spcBef>
                <a:spcPct val="0"/>
              </a:spcBef>
            </a:pP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  Fluxo S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egur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o: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U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tilização d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métodos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atômicos do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MongoDB par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garantir 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consistência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de d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ado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 e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oper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ações financeir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(ex: som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ar valor ao total </a:t>
            </a:r>
            <a:r>
              <a:rPr lang="en-US" sz="2206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da conta).</a:t>
            </a:r>
          </a:p>
          <a:p>
            <a:pPr algn="l">
              <a:lnSpc>
                <a:spcPts val="308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86961" y="4415669"/>
            <a:ext cx="7372339" cy="457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9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Integraç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ão c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om W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ebSocket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s:</a:t>
            </a:r>
          </a:p>
          <a:p>
            <a:pPr algn="l" marL="507198" indent="-253599" lvl="1">
              <a:lnSpc>
                <a:spcPts val="3288"/>
              </a:lnSpc>
              <a:spcBef>
                <a:spcPct val="0"/>
              </a:spcBef>
              <a:buFont typeface="Arial"/>
              <a:buChar char="•"/>
            </a:pP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P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ojeto uti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liza WebSockets (Socket.IO) para receber 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at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al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ções em Tempo Re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al.</a:t>
            </a:r>
          </a:p>
          <a:p>
            <a:pPr algn="l" marL="507198" indent="-253599" lvl="1">
              <a:lnSpc>
                <a:spcPts val="3288"/>
              </a:lnSpc>
              <a:spcBef>
                <a:spcPct val="0"/>
              </a:spcBef>
              <a:buFont typeface="Arial"/>
              <a:buChar char="•"/>
            </a:pP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 c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omunicação é fe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 po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"Salas",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gar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antind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que o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alerta de um c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ha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mado por ex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empl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n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Emp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resa A seja vi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st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apenas pelos garçons da Empres</a:t>
            </a: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</a:p>
          <a:p>
            <a:pPr algn="l">
              <a:lnSpc>
                <a:spcPts val="3288"/>
              </a:lnSpc>
              <a:spcBef>
                <a:spcPct val="0"/>
              </a:spcBef>
            </a:pPr>
          </a:p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9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Exemplo: Os chamados são feitos apertando o botão IOT com uma rota POST e com utilização do socket.io a requisição e resposta é feita de forma instantânea.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447" y="518795"/>
            <a:ext cx="1425647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4"/>
              </a:lnSpc>
            </a:pP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tatística: Análise Descritiva e Indicadores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7755" y="1814485"/>
            <a:ext cx="9080637" cy="361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0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Medid</a:t>
            </a:r>
            <a:r>
              <a:rPr lang="en-US" sz="20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as de Tendência Central</a:t>
            </a:r>
          </a:p>
          <a:p>
            <a:pPr algn="l">
              <a:lnSpc>
                <a:spcPts val="2853"/>
              </a:lnSpc>
            </a:pPr>
          </a:p>
          <a:p>
            <a:pPr algn="l">
              <a:lnSpc>
                <a:spcPts val="2853"/>
              </a:lnSpc>
            </a:pPr>
            <a:r>
              <a:rPr lang="en-US" sz="20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Média: Cálculo do Ticket Médio e do tempo médio de atendimento do Garçom.</a:t>
            </a:r>
          </a:p>
          <a:p>
            <a:pPr algn="l">
              <a:lnSpc>
                <a:spcPts val="2853"/>
              </a:lnSpc>
            </a:pPr>
          </a:p>
          <a:p>
            <a:pPr algn="l">
              <a:lnSpc>
                <a:spcPts val="2853"/>
              </a:lnSpc>
            </a:pPr>
            <a:r>
              <a:rPr lang="en-US" sz="20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Mediana: Valor central dos gastos, ideal para ignorar outliers (clientes que gastam muito acima ou muito abaixo da média).</a:t>
            </a:r>
          </a:p>
          <a:p>
            <a:pPr algn="l">
              <a:lnSpc>
                <a:spcPts val="2853"/>
              </a:lnSpc>
            </a:pPr>
          </a:p>
          <a:p>
            <a:pPr algn="l">
              <a:lnSpc>
                <a:spcPts val="2853"/>
              </a:lnSpc>
            </a:pPr>
            <a:r>
              <a:rPr lang="en-US" sz="20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Moda: Valor mais frequente de gasto, indicando o padrão de consumo do cliente do restaurante.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490871">
            <a:off x="12322442" y="-2165331"/>
            <a:ext cx="8374142" cy="6388062"/>
          </a:xfrm>
          <a:custGeom>
            <a:avLst/>
            <a:gdLst/>
            <a:ahLst/>
            <a:cxnLst/>
            <a:rect r="r" b="b" t="t" l="l"/>
            <a:pathLst>
              <a:path h="6388062" w="8374142">
                <a:moveTo>
                  <a:pt x="0" y="0"/>
                </a:moveTo>
                <a:lnTo>
                  <a:pt x="8374142" y="0"/>
                </a:lnTo>
                <a:lnTo>
                  <a:pt x="8374142" y="6388062"/>
                </a:lnTo>
                <a:lnTo>
                  <a:pt x="0" y="638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42319">
            <a:off x="-3363244" y="5952867"/>
            <a:ext cx="8374142" cy="6388062"/>
          </a:xfrm>
          <a:custGeom>
            <a:avLst/>
            <a:gdLst/>
            <a:ahLst/>
            <a:cxnLst/>
            <a:rect r="r" b="b" t="t" l="l"/>
            <a:pathLst>
              <a:path h="6388062" w="8374142">
                <a:moveTo>
                  <a:pt x="0" y="0"/>
                </a:moveTo>
                <a:lnTo>
                  <a:pt x="8374141" y="0"/>
                </a:lnTo>
                <a:lnTo>
                  <a:pt x="8374141" y="6388062"/>
                </a:lnTo>
                <a:lnTo>
                  <a:pt x="0" y="638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86955" y="5668927"/>
            <a:ext cx="10631961" cy="41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Medid</a:t>
            </a: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as de Forma e Distribuição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Assimetria (Skewness): Indica se as vendas estão concentradas em valores mais baixos ou mais altos.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Exemplo: Assimetria positiva sugere que a maioria dos clientes gasta pouco, mas alguns poucos gastam muito.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Curtose (Kurtosis): Analisa a concentração dos dados (o "pico").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-  Exemplo: Curtose alta significa que existem mais vendas muito altas ou muito baixas do que o esperado. Curtose baixa indica valores mais uniformes, sem muitos extremos.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6352" y="637833"/>
            <a:ext cx="1234791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Estatística: Inferência, Risco e Previsão:</a:t>
            </a:r>
          </a:p>
          <a:p>
            <a:pPr algn="l">
              <a:lnSpc>
                <a:spcPts val="70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24267" y="-1803368"/>
            <a:ext cx="10527465" cy="8030686"/>
          </a:xfrm>
          <a:custGeom>
            <a:avLst/>
            <a:gdLst/>
            <a:ahLst/>
            <a:cxnLst/>
            <a:rect r="r" b="b" t="t" l="l"/>
            <a:pathLst>
              <a:path h="8030686" w="10527465">
                <a:moveTo>
                  <a:pt x="0" y="0"/>
                </a:moveTo>
                <a:lnTo>
                  <a:pt x="10527466" y="0"/>
                </a:lnTo>
                <a:lnTo>
                  <a:pt x="10527466" y="8030686"/>
                </a:lnTo>
                <a:lnTo>
                  <a:pt x="0" y="803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3692988" y="4431199"/>
            <a:ext cx="11961245" cy="9124419"/>
          </a:xfrm>
          <a:custGeom>
            <a:avLst/>
            <a:gdLst/>
            <a:ahLst/>
            <a:cxnLst/>
            <a:rect r="r" b="b" t="t" l="l"/>
            <a:pathLst>
              <a:path h="9124419" w="11961245">
                <a:moveTo>
                  <a:pt x="0" y="0"/>
                </a:moveTo>
                <a:lnTo>
                  <a:pt x="11961245" y="0"/>
                </a:lnTo>
                <a:lnTo>
                  <a:pt x="11961245" y="9124419"/>
                </a:lnTo>
                <a:lnTo>
                  <a:pt x="0" y="912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9723" y="1931023"/>
            <a:ext cx="11221172" cy="447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estão de Risco (Inferênc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a):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  Desvio Padrão: Mostra o quanto o ticket médi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clien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tes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os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cila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Exemplo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: Qu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anto maior, mai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 o risco e a va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iabilida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das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vendas.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  Interv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alo de Confiança (IC): É o principal indic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ador de inferência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. E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le t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radu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esvio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rã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para o Gerente: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 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Exempl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: "O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verdad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eir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Ticket Médio do restaura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nte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tá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R$ X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 R$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Y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95%</a:t>
            </a:r>
            <a:r>
              <a:rPr lang="en-US" sz="22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de certeza."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58973" y="7139372"/>
            <a:ext cx="7500327" cy="211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  <a:spcBef>
                <a:spcPct val="0"/>
              </a:spcBef>
            </a:pPr>
            <a:r>
              <a:rPr lang="en-US" sz="239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Previs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ão de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endências:</a:t>
            </a:r>
          </a:p>
          <a:p>
            <a:pPr algn="l">
              <a:lnSpc>
                <a:spcPts val="3346"/>
              </a:lnSpc>
              <a:spcBef>
                <a:spcPct val="0"/>
              </a:spcBef>
            </a:pPr>
          </a:p>
          <a:p>
            <a:pPr algn="l">
              <a:lnSpc>
                <a:spcPts val="3346"/>
              </a:lnSpc>
              <a:spcBef>
                <a:spcPct val="0"/>
              </a:spcBef>
            </a:pP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-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egressão Linear: Aplica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uma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linha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endência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b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 o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f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atu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ame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nt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diá</a:t>
            </a:r>
            <a:r>
              <a:rPr lang="en-US" sz="23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rio para estimar o faturamento futuro.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420437">
            <a:off x="-1213280" y="7192854"/>
            <a:ext cx="6222231" cy="6188292"/>
          </a:xfrm>
          <a:custGeom>
            <a:avLst/>
            <a:gdLst/>
            <a:ahLst/>
            <a:cxnLst/>
            <a:rect r="r" b="b" t="t" l="l"/>
            <a:pathLst>
              <a:path h="6188292" w="6222231">
                <a:moveTo>
                  <a:pt x="0" y="0"/>
                </a:moveTo>
                <a:lnTo>
                  <a:pt x="6222232" y="0"/>
                </a:lnTo>
                <a:lnTo>
                  <a:pt x="6222232" y="6188292"/>
                </a:lnTo>
                <a:lnTo>
                  <a:pt x="0" y="618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67509" y="-1529459"/>
            <a:ext cx="6222231" cy="6188292"/>
          </a:xfrm>
          <a:custGeom>
            <a:avLst/>
            <a:gdLst/>
            <a:ahLst/>
            <a:cxnLst/>
            <a:rect r="r" b="b" t="t" l="l"/>
            <a:pathLst>
              <a:path h="6188292" w="6222231">
                <a:moveTo>
                  <a:pt x="0" y="0"/>
                </a:moveTo>
                <a:lnTo>
                  <a:pt x="6222232" y="0"/>
                </a:lnTo>
                <a:lnTo>
                  <a:pt x="6222232" y="6188292"/>
                </a:lnTo>
                <a:lnTo>
                  <a:pt x="0" y="618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6443" y="916239"/>
            <a:ext cx="10234806" cy="3885631"/>
            <a:chOff x="0" y="0"/>
            <a:chExt cx="13646408" cy="51808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3646408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App Mobile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02784"/>
              <a:ext cx="12404000" cy="3078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267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Sistema m</a:t>
              </a:r>
              <a:r>
                <a:rPr lang="en-US" sz="267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obile completo para gestão de operações em restaurantes, permitindo que garçons atendam mesas, realizem pedidos, processem pagamentos e acompanhem métricas de desempenho. A equipe da cozinha visualiza pedidos em tempo real e notifica quando estão prontos.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84858" y="5195044"/>
            <a:ext cx="7493767" cy="382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empo Real: WebSocket para atualizações instantâneas</a:t>
            </a:r>
          </a:p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Gráf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icos: Vi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sualiz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ação de métricas com gráficos de barras</a:t>
            </a:r>
          </a:p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Notificações: Sistema de badges e alertas visuais</a:t>
            </a:r>
          </a:p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Aut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enticação: Login seguro com JWT tokens</a:t>
            </a:r>
          </a:p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sponsi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vo: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</a:t>
            </a: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terface adaptada para diferentes tamanhos de tela</a:t>
            </a:r>
          </a:p>
          <a:p>
            <a:pPr algn="l" marL="465798" indent="-232899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2157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UI Moderna: Design limpo e intuitivo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95109" y="4995581"/>
            <a:ext cx="8478517" cy="271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React Native 0.81.5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Expo </a:t>
            </a: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~54.0.20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TypeScript - Tipagem forte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Expo Router - Navegação file-based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Zustand - State management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Socket.IO Client - WebSocket</a:t>
            </a:r>
          </a:p>
          <a:p>
            <a:pPr algn="l" marL="472925" indent="-236463" lvl="1">
              <a:lnSpc>
                <a:spcPts val="3066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trike="noStrike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React Native Chart Kit - Gráficos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7433" y="-2582984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7"/>
                </a:lnTo>
                <a:lnTo>
                  <a:pt x="0" y="6520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93219">
            <a:off x="15203072" y="3985487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8"/>
                </a:lnTo>
                <a:lnTo>
                  <a:pt x="0" y="652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364221">
            <a:off x="-3260334" y="8582683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8"/>
                </a:lnTo>
                <a:lnTo>
                  <a:pt x="0" y="652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15455" y="2755504"/>
            <a:ext cx="6457089" cy="6457089"/>
          </a:xfrm>
          <a:custGeom>
            <a:avLst/>
            <a:gdLst/>
            <a:ahLst/>
            <a:cxnLst/>
            <a:rect r="r" b="b" t="t" l="l"/>
            <a:pathLst>
              <a:path h="6457089" w="6457089">
                <a:moveTo>
                  <a:pt x="0" y="0"/>
                </a:moveTo>
                <a:lnTo>
                  <a:pt x="6457090" y="0"/>
                </a:lnTo>
                <a:lnTo>
                  <a:pt x="6457090" y="6457089"/>
                </a:lnTo>
                <a:lnTo>
                  <a:pt x="0" y="64570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8181" y="658300"/>
            <a:ext cx="1259163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IoT - Internet das Coisas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8181" y="1926829"/>
            <a:ext cx="125916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ESP32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7433" y="-2582984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7"/>
                </a:lnTo>
                <a:lnTo>
                  <a:pt x="0" y="6520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93219">
            <a:off x="15203072" y="3985487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8"/>
                </a:lnTo>
                <a:lnTo>
                  <a:pt x="0" y="652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364221">
            <a:off x="-3260334" y="8582683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8" y="0"/>
                </a:lnTo>
                <a:lnTo>
                  <a:pt x="6520668" y="6520668"/>
                </a:lnTo>
                <a:lnTo>
                  <a:pt x="0" y="652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48181" y="658300"/>
            <a:ext cx="1259163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IoT - Internet das Coisas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8181" y="1926829"/>
            <a:ext cx="125916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Como funciona?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438650"/>
            <a:ext cx="446267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ESP32 envia uma requisição POST para o Backend</a:t>
            </a:r>
          </a:p>
        </p:txBody>
      </p:sp>
      <p:sp>
        <p:nvSpPr>
          <p:cNvPr name="AutoShape 8" id="8"/>
          <p:cNvSpPr/>
          <p:nvPr/>
        </p:nvSpPr>
        <p:spPr>
          <a:xfrm>
            <a:off x="5750226" y="5124450"/>
            <a:ext cx="104622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6925879" y="4438650"/>
            <a:ext cx="446267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proc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ss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cha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e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ispara o 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WebSo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cke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1517980" y="5162550"/>
            <a:ext cx="104622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2564208" y="4210050"/>
            <a:ext cx="4462676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gar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ç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 re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cebe a no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tifi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çã</a:t>
            </a:r>
            <a:r>
              <a:rPr lang="en-US" b="true" sz="3000" strike="noStrike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instantaneamente no app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5782" y="0"/>
            <a:ext cx="5781358" cy="12668315"/>
          </a:xfrm>
          <a:custGeom>
            <a:avLst/>
            <a:gdLst/>
            <a:ahLst/>
            <a:cxnLst/>
            <a:rect r="r" b="b" t="t" l="l"/>
            <a:pathLst>
              <a:path h="12668315" w="5781358">
                <a:moveTo>
                  <a:pt x="0" y="0"/>
                </a:moveTo>
                <a:lnTo>
                  <a:pt x="5781359" y="0"/>
                </a:lnTo>
                <a:lnTo>
                  <a:pt x="5781359" y="12668315"/>
                </a:lnTo>
                <a:lnTo>
                  <a:pt x="0" y="12668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64005"/>
            <a:ext cx="11518126" cy="2860366"/>
            <a:chOff x="0" y="0"/>
            <a:chExt cx="15357501" cy="381382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357501" cy="2017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860"/>
                </a:lnSpc>
              </a:pPr>
              <a:r>
                <a:rPr lang="en-US" sz="9883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Fim.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868982"/>
              <a:ext cx="15357501" cy="944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95"/>
                </a:lnSpc>
              </a:pPr>
              <a:r>
                <a:rPr lang="en-US" sz="4282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Agradecemos a atenção de todos.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DAG52bNEPy4</dc:identifier>
  <dcterms:modified xsi:type="dcterms:W3CDTF">2011-08-01T06:04:30Z</dcterms:modified>
  <cp:revision>1</cp:revision>
  <dc:title>Azul Padrões de Tecnologia e Tecnologia na Vida dos Consumidores Apresentação de Tecnologia</dc:title>
</cp:coreProperties>
</file>